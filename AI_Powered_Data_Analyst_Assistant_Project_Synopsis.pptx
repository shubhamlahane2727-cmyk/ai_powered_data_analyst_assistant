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1A09-77C9-0973-D766-185194040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10096"/>
            <a:ext cx="8825658" cy="3329581"/>
          </a:xfrm>
        </p:spPr>
        <p:txBody>
          <a:bodyPr/>
          <a:lstStyle/>
          <a:p>
            <a:r>
              <a:rPr lang="en-IN" dirty="0"/>
              <a:t>AI-Powered Data Analyst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8EA72-7E73-85C0-D8BB-22D6CE732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635979"/>
            <a:ext cx="9968674" cy="2009919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Final Year Project Synopsis</a:t>
            </a:r>
          </a:p>
          <a:p>
            <a:r>
              <a:rPr lang="en-IN" sz="1600" dirty="0">
                <a:solidFill>
                  <a:schemeClr val="tx1"/>
                </a:solidFill>
              </a:rPr>
              <a:t>Presented By: it-01 (Group-a2)</a:t>
            </a:r>
          </a:p>
          <a:p>
            <a:r>
              <a:rPr lang="en-IN" sz="1600" dirty="0">
                <a:solidFill>
                  <a:schemeClr val="tx1"/>
                </a:solidFill>
              </a:rPr>
              <a:t>Project Mentor: MR. Bharat </a:t>
            </a:r>
            <a:r>
              <a:rPr lang="en-IN" sz="1600" dirty="0" err="1">
                <a:solidFill>
                  <a:schemeClr val="tx1"/>
                </a:solidFill>
              </a:rPr>
              <a:t>chaudhari</a:t>
            </a:r>
            <a:r>
              <a:rPr lang="en-IN" sz="1600" dirty="0">
                <a:solidFill>
                  <a:schemeClr val="tx1"/>
                </a:solidFill>
              </a:rPr>
              <a:t> sir</a:t>
            </a:r>
          </a:p>
          <a:p>
            <a:r>
              <a:rPr lang="en-IN" sz="1600" dirty="0" err="1">
                <a:solidFill>
                  <a:schemeClr val="tx1"/>
                </a:solidFill>
              </a:rPr>
              <a:t>B.Tech</a:t>
            </a:r>
            <a:r>
              <a:rPr lang="en-IN" sz="1600" dirty="0">
                <a:solidFill>
                  <a:schemeClr val="tx1"/>
                </a:solidFill>
              </a:rPr>
              <a:t> Information Technology</a:t>
            </a:r>
          </a:p>
          <a:p>
            <a:r>
              <a:rPr lang="en-IN" sz="1600" dirty="0">
                <a:solidFill>
                  <a:schemeClr val="tx1"/>
                </a:solidFill>
              </a:rPr>
              <a:t>MGM University, Chhatrapati </a:t>
            </a:r>
            <a:r>
              <a:rPr lang="en-IN" sz="1600" dirty="0" err="1">
                <a:solidFill>
                  <a:schemeClr val="tx1"/>
                </a:solidFill>
              </a:rPr>
              <a:t>Sambhajinagar</a:t>
            </a:r>
            <a:endParaRPr lang="en-IN" sz="1600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5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032FA6-D89C-C0D3-AC30-94B889FB7017}"/>
              </a:ext>
            </a:extLst>
          </p:cNvPr>
          <p:cNvSpPr txBox="1"/>
          <p:nvPr/>
        </p:nvSpPr>
        <p:spPr>
          <a:xfrm>
            <a:off x="827532" y="363915"/>
            <a:ext cx="971903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Existing Problems:</a:t>
            </a:r>
          </a:p>
          <a:p>
            <a:endParaRPr lang="en-IN" sz="1000" b="1" dirty="0"/>
          </a:p>
          <a:p>
            <a:r>
              <a:rPr lang="en-IN" sz="2000" dirty="0"/>
              <a:t>Businesses collect huge volumes of data every day, but: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Manual data cleaning is time-consuming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Data analysis requires technical knowledge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Reports are generated manually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Decision-making becomes slow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Non-technical users struggle with analytics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sz="3200" b="1" dirty="0"/>
              <a:t>Proposed Solution:</a:t>
            </a:r>
          </a:p>
          <a:p>
            <a:endParaRPr lang="en-IN" sz="1000" b="1" dirty="0"/>
          </a:p>
          <a:p>
            <a:r>
              <a:rPr lang="en-IN" sz="2000" dirty="0"/>
              <a:t>Develop an AI-powered web application that automates: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Data Cleaning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Data Profiling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Data Visualization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AI-generated Insights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Machine Learning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Report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607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67711E-66C6-4216-2579-A0EFF38B4B2B}"/>
              </a:ext>
            </a:extLst>
          </p:cNvPr>
          <p:cNvSpPr txBox="1"/>
          <p:nvPr/>
        </p:nvSpPr>
        <p:spPr>
          <a:xfrm>
            <a:off x="1015156" y="573673"/>
            <a:ext cx="817303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Objectives:</a:t>
            </a:r>
          </a:p>
          <a:p>
            <a:endParaRPr lang="en-IN" sz="1000" b="1" dirty="0"/>
          </a:p>
          <a:p>
            <a:endParaRPr lang="en-IN" sz="1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Upload CSV &amp; Excel datasets </a:t>
            </a:r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Automatically clean raw data </a:t>
            </a:r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Analyze</a:t>
            </a:r>
            <a:r>
              <a:rPr lang="en-IN" sz="2000" dirty="0"/>
              <a:t> data using statistical methods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interactive charts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 AI-powered insights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Build ML models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Export professional reports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Help users make data-driven decisions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66126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803B59-FC22-D0F8-A2B3-67E63E09460E}"/>
              </a:ext>
            </a:extLst>
          </p:cNvPr>
          <p:cNvSpPr txBox="1"/>
          <p:nvPr/>
        </p:nvSpPr>
        <p:spPr>
          <a:xfrm>
            <a:off x="473684" y="259102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System Architecture: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A17A4-7D33-6314-1891-3BAF2435E91A}"/>
              </a:ext>
            </a:extLst>
          </p:cNvPr>
          <p:cNvSpPr txBox="1"/>
          <p:nvPr/>
        </p:nvSpPr>
        <p:spPr>
          <a:xfrm>
            <a:off x="758063" y="1279996"/>
            <a:ext cx="9803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0DD42B-CC8C-55F0-8EE1-6A6DE4F31612}"/>
              </a:ext>
            </a:extLst>
          </p:cNvPr>
          <p:cNvSpPr/>
          <p:nvPr/>
        </p:nvSpPr>
        <p:spPr>
          <a:xfrm>
            <a:off x="665385" y="1279996"/>
            <a:ext cx="9646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Graphic 9" descr="Line arrow Straight">
            <a:extLst>
              <a:ext uri="{FF2B5EF4-FFF2-40B4-BE49-F238E27FC236}">
                <a16:creationId xmlns:a16="http://schemas.microsoft.com/office/drawing/2014/main" id="{9013D3EF-BD3E-660C-81D3-302B827C33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847270" y="1053628"/>
            <a:ext cx="914400" cy="91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53C8FB-C8F2-6353-BBAE-D4161B30BC3B}"/>
              </a:ext>
            </a:extLst>
          </p:cNvPr>
          <p:cNvSpPr/>
          <p:nvPr/>
        </p:nvSpPr>
        <p:spPr>
          <a:xfrm>
            <a:off x="2978878" y="1088402"/>
            <a:ext cx="2565662" cy="10560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65B8F9-F561-0330-7F2F-A2B0662EDFAA}"/>
              </a:ext>
            </a:extLst>
          </p:cNvPr>
          <p:cNvSpPr txBox="1"/>
          <p:nvPr/>
        </p:nvSpPr>
        <p:spPr>
          <a:xfrm>
            <a:off x="6928699" y="1251654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Data Upload Module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833CB5-6DE4-AD55-CAED-DF817166A427}"/>
              </a:ext>
            </a:extLst>
          </p:cNvPr>
          <p:cNvSpPr/>
          <p:nvPr/>
        </p:nvSpPr>
        <p:spPr>
          <a:xfrm>
            <a:off x="6928699" y="1261080"/>
            <a:ext cx="3386571" cy="461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Graphic 19" descr="Line arrow Straight">
            <a:extLst>
              <a:ext uri="{FF2B5EF4-FFF2-40B4-BE49-F238E27FC236}">
                <a16:creationId xmlns:a16="http://schemas.microsoft.com/office/drawing/2014/main" id="{F630E0CC-1B1E-1127-6643-DC175FE3A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5767630" y="1070246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991A03C-C14C-EE40-BFC5-568C1CA97679}"/>
              </a:ext>
            </a:extLst>
          </p:cNvPr>
          <p:cNvSpPr txBox="1"/>
          <p:nvPr/>
        </p:nvSpPr>
        <p:spPr>
          <a:xfrm>
            <a:off x="7383899" y="2888315"/>
            <a:ext cx="6509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Data Cleaning Module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179CEE-7797-DAD1-36C1-71CC11BB0369}"/>
              </a:ext>
            </a:extLst>
          </p:cNvPr>
          <p:cNvSpPr/>
          <p:nvPr/>
        </p:nvSpPr>
        <p:spPr>
          <a:xfrm>
            <a:off x="7417759" y="2892737"/>
            <a:ext cx="3511260" cy="461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Graphic 25" descr="Line arrow Straight">
            <a:extLst>
              <a:ext uri="{FF2B5EF4-FFF2-40B4-BE49-F238E27FC236}">
                <a16:creationId xmlns:a16="http://schemas.microsoft.com/office/drawing/2014/main" id="{D31E71EC-8D1B-FCB3-C7DF-113C3D637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164784" y="1866653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2C854E3-A32A-2800-52EC-A8C9C4E7DAE4}"/>
              </a:ext>
            </a:extLst>
          </p:cNvPr>
          <p:cNvSpPr txBox="1"/>
          <p:nvPr/>
        </p:nvSpPr>
        <p:spPr>
          <a:xfrm>
            <a:off x="3366562" y="2703650"/>
            <a:ext cx="3139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Data Profiling Module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3E270B-94FE-B828-49BF-1FBF9714F066}"/>
              </a:ext>
            </a:extLst>
          </p:cNvPr>
          <p:cNvSpPr/>
          <p:nvPr/>
        </p:nvSpPr>
        <p:spPr>
          <a:xfrm>
            <a:off x="3733977" y="2738744"/>
            <a:ext cx="2325300" cy="802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Graphic 33" descr="Line arrow Straight">
            <a:extLst>
              <a:ext uri="{FF2B5EF4-FFF2-40B4-BE49-F238E27FC236}">
                <a16:creationId xmlns:a16="http://schemas.microsoft.com/office/drawing/2014/main" id="{874C4631-4FDC-AB6D-AE42-287348C568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8460" y="2662646"/>
            <a:ext cx="914400" cy="914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16CC139-361E-3652-CCF1-6C60A03F5B57}"/>
              </a:ext>
            </a:extLst>
          </p:cNvPr>
          <p:cNvSpPr txBox="1"/>
          <p:nvPr/>
        </p:nvSpPr>
        <p:spPr>
          <a:xfrm>
            <a:off x="88663" y="2724572"/>
            <a:ext cx="24716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Data Analytics Module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95A911-13DB-F017-F34E-38B988786F5A}"/>
              </a:ext>
            </a:extLst>
          </p:cNvPr>
          <p:cNvSpPr/>
          <p:nvPr/>
        </p:nvSpPr>
        <p:spPr>
          <a:xfrm>
            <a:off x="179109" y="2738744"/>
            <a:ext cx="2347749" cy="802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Graphic 39" descr="Line arrow Straight">
            <a:extLst>
              <a:ext uri="{FF2B5EF4-FFF2-40B4-BE49-F238E27FC236}">
                <a16:creationId xmlns:a16="http://schemas.microsoft.com/office/drawing/2014/main" id="{15625B22-5C73-57BF-AD31-082C02D43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0713" y="2694751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D292EF3-FE1C-7FD9-3FD7-E352535C320E}"/>
              </a:ext>
            </a:extLst>
          </p:cNvPr>
          <p:cNvSpPr txBox="1"/>
          <p:nvPr/>
        </p:nvSpPr>
        <p:spPr>
          <a:xfrm>
            <a:off x="88663" y="4579804"/>
            <a:ext cx="3763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Visualization Module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FED44C-4DAB-54B4-9B89-754BFB650785}"/>
              </a:ext>
            </a:extLst>
          </p:cNvPr>
          <p:cNvSpPr/>
          <p:nvPr/>
        </p:nvSpPr>
        <p:spPr>
          <a:xfrm>
            <a:off x="161416" y="4579804"/>
            <a:ext cx="3205146" cy="461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6" name="Graphic 45" descr="Line arrow Straight">
            <a:extLst>
              <a:ext uri="{FF2B5EF4-FFF2-40B4-BE49-F238E27FC236}">
                <a16:creationId xmlns:a16="http://schemas.microsoft.com/office/drawing/2014/main" id="{3763D25B-DE03-AD12-02FE-F8C4475A1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67266" y="3610675"/>
            <a:ext cx="914400" cy="9144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D221A9B-4211-EE0B-938B-80E871D8B60F}"/>
              </a:ext>
            </a:extLst>
          </p:cNvPr>
          <p:cNvSpPr txBox="1"/>
          <p:nvPr/>
        </p:nvSpPr>
        <p:spPr>
          <a:xfrm>
            <a:off x="4775685" y="4554051"/>
            <a:ext cx="3170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AI Insights Module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D83B6D-02D3-3609-C287-3321F901F26B}"/>
              </a:ext>
            </a:extLst>
          </p:cNvPr>
          <p:cNvSpPr/>
          <p:nvPr/>
        </p:nvSpPr>
        <p:spPr>
          <a:xfrm>
            <a:off x="4654879" y="4562241"/>
            <a:ext cx="3139901" cy="461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Graphic 51" descr="Line arrow Straight">
            <a:extLst>
              <a:ext uri="{FF2B5EF4-FFF2-40B4-BE49-F238E27FC236}">
                <a16:creationId xmlns:a16="http://schemas.microsoft.com/office/drawing/2014/main" id="{9C83FE3C-EB7B-C87E-9272-F2CDE6F99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520899" y="4344720"/>
            <a:ext cx="914400" cy="9144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C3FE150-CEA1-720C-C93B-CABEF8C01507}"/>
              </a:ext>
            </a:extLst>
          </p:cNvPr>
          <p:cNvSpPr txBox="1"/>
          <p:nvPr/>
        </p:nvSpPr>
        <p:spPr>
          <a:xfrm>
            <a:off x="9011658" y="4482242"/>
            <a:ext cx="29779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Machine Learning Module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658EC98-9BB9-3FC0-F5AC-957E62AF4827}"/>
              </a:ext>
            </a:extLst>
          </p:cNvPr>
          <p:cNvSpPr/>
          <p:nvPr/>
        </p:nvSpPr>
        <p:spPr>
          <a:xfrm>
            <a:off x="9079184" y="4486982"/>
            <a:ext cx="2842907" cy="802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8" name="Graphic 57" descr="Line arrow Straight">
            <a:extLst>
              <a:ext uri="{FF2B5EF4-FFF2-40B4-BE49-F238E27FC236}">
                <a16:creationId xmlns:a16="http://schemas.microsoft.com/office/drawing/2014/main" id="{393004B3-05BF-474C-6D2C-AB3CCD0D56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946019" y="4375236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7BB541C-02B1-D4C2-5469-47FE1477F2C2}"/>
              </a:ext>
            </a:extLst>
          </p:cNvPr>
          <p:cNvSpPr txBox="1"/>
          <p:nvPr/>
        </p:nvSpPr>
        <p:spPr>
          <a:xfrm>
            <a:off x="5330095" y="5851142"/>
            <a:ext cx="38934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Generator PDF / Excel Report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BD59F1-2668-F440-6631-C0B5898C898E}"/>
              </a:ext>
            </a:extLst>
          </p:cNvPr>
          <p:cNvSpPr/>
          <p:nvPr/>
        </p:nvSpPr>
        <p:spPr>
          <a:xfrm>
            <a:off x="5118193" y="5827539"/>
            <a:ext cx="3893465" cy="9143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D939BC0-80C6-BF8E-3F0D-42416A4F5D5F}"/>
              </a:ext>
            </a:extLst>
          </p:cNvPr>
          <p:cNvCxnSpPr>
            <a:cxnSpLocks/>
          </p:cNvCxnSpPr>
          <p:nvPr/>
        </p:nvCxnSpPr>
        <p:spPr>
          <a:xfrm>
            <a:off x="10555908" y="5468695"/>
            <a:ext cx="0" cy="7944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Graphic 69" descr="Line arrow Straight">
            <a:extLst>
              <a:ext uri="{FF2B5EF4-FFF2-40B4-BE49-F238E27FC236}">
                <a16:creationId xmlns:a16="http://schemas.microsoft.com/office/drawing/2014/main" id="{5BA3166D-2C62-AD0E-0C27-CF64F4E3F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5716" y="5831509"/>
            <a:ext cx="1392787" cy="9144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00937432-321C-04E6-00F3-29EF843DEE29}"/>
              </a:ext>
            </a:extLst>
          </p:cNvPr>
          <p:cNvSpPr txBox="1"/>
          <p:nvPr/>
        </p:nvSpPr>
        <p:spPr>
          <a:xfrm>
            <a:off x="2526858" y="1238451"/>
            <a:ext cx="3476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 err="1"/>
              <a:t>Streamlit</a:t>
            </a:r>
            <a:r>
              <a:rPr lang="en-IN" sz="2400" dirty="0"/>
              <a:t> Web Interface</a:t>
            </a:r>
          </a:p>
        </p:txBody>
      </p:sp>
    </p:spTree>
    <p:extLst>
      <p:ext uri="{BB962C8B-B14F-4D97-AF65-F5344CB8AC3E}">
        <p14:creationId xmlns:p14="http://schemas.microsoft.com/office/powerpoint/2010/main" val="1452793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26D5BA-91E1-F13D-B64B-1618CA6F5AB9}"/>
              </a:ext>
            </a:extLst>
          </p:cNvPr>
          <p:cNvSpPr txBox="1"/>
          <p:nvPr/>
        </p:nvSpPr>
        <p:spPr>
          <a:xfrm>
            <a:off x="845169" y="18319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Technology Stack: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10A006-3BB5-574F-449A-EB75A2883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681785"/>
              </p:ext>
            </p:extLst>
          </p:nvPr>
        </p:nvGraphicFramePr>
        <p:xfrm>
          <a:off x="845169" y="1017231"/>
          <a:ext cx="9383860" cy="5105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1930">
                  <a:extLst>
                    <a:ext uri="{9D8B030D-6E8A-4147-A177-3AD203B41FA5}">
                      <a16:colId xmlns:a16="http://schemas.microsoft.com/office/drawing/2014/main" val="2709886099"/>
                    </a:ext>
                  </a:extLst>
                </a:gridCol>
                <a:gridCol w="4691930">
                  <a:extLst>
                    <a:ext uri="{9D8B030D-6E8A-4147-A177-3AD203B41FA5}">
                      <a16:colId xmlns:a16="http://schemas.microsoft.com/office/drawing/2014/main" val="4088233531"/>
                    </a:ext>
                  </a:extLst>
                </a:gridCol>
              </a:tblGrid>
              <a:tr h="75966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000" b="1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Category</a:t>
                      </a:r>
                      <a:endParaRPr lang="en-IN" sz="1800" b="1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000" b="1" dirty="0"/>
                    </a:p>
                    <a:p>
                      <a:pPr algn="ctr"/>
                      <a:r>
                        <a:rPr lang="en-IN" sz="2400" b="1" dirty="0"/>
                        <a:t>Technology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313686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241755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 err="1"/>
                        <a:t>Streamlit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300661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0" dirty="0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673550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Data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 err="1"/>
                        <a:t>Plotly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21448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032820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SciPy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28095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Report Generation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/>
                        <a:t>ReportLab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/>
                        <a:t>OpenPyXL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/>
                        <a:t>XlsxWriter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322793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Version 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Git &amp; 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714786"/>
                  </a:ext>
                </a:extLst>
              </a:tr>
              <a:tr h="44012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Integrated Development Environment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Visual Studio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065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23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5893C-D8DB-3EB4-2824-57D27DF51894}"/>
              </a:ext>
            </a:extLst>
          </p:cNvPr>
          <p:cNvSpPr txBox="1"/>
          <p:nvPr/>
        </p:nvSpPr>
        <p:spPr>
          <a:xfrm>
            <a:off x="565244" y="318300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Project Workflow: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E9864-249F-4714-7A32-08E7F0877B96}"/>
              </a:ext>
            </a:extLst>
          </p:cNvPr>
          <p:cNvSpPr txBox="1"/>
          <p:nvPr/>
        </p:nvSpPr>
        <p:spPr>
          <a:xfrm>
            <a:off x="528518" y="1408458"/>
            <a:ext cx="87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E9C3BF-1785-C82A-6EDB-2518BE764F71}"/>
              </a:ext>
            </a:extLst>
          </p:cNvPr>
          <p:cNvSpPr/>
          <p:nvPr/>
        </p:nvSpPr>
        <p:spPr>
          <a:xfrm>
            <a:off x="497851" y="1408458"/>
            <a:ext cx="87433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Line arrow Straight">
            <a:extLst>
              <a:ext uri="{FF2B5EF4-FFF2-40B4-BE49-F238E27FC236}">
                <a16:creationId xmlns:a16="http://schemas.microsoft.com/office/drawing/2014/main" id="{CE04FEBA-F0C6-634F-BC73-592CB7BFE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464889" y="118209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A7DCC5-DA68-99E1-42DD-CA371320055C}"/>
              </a:ext>
            </a:extLst>
          </p:cNvPr>
          <p:cNvSpPr txBox="1"/>
          <p:nvPr/>
        </p:nvSpPr>
        <p:spPr>
          <a:xfrm>
            <a:off x="2445302" y="1408458"/>
            <a:ext cx="2806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Upload Dataset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315D6E-6C0A-A569-4F2A-C8EC6418F830}"/>
              </a:ext>
            </a:extLst>
          </p:cNvPr>
          <p:cNvSpPr/>
          <p:nvPr/>
        </p:nvSpPr>
        <p:spPr>
          <a:xfrm>
            <a:off x="2445302" y="1408458"/>
            <a:ext cx="251418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Graphic 16" descr="Line arrow Straight">
            <a:extLst>
              <a:ext uri="{FF2B5EF4-FFF2-40B4-BE49-F238E27FC236}">
                <a16:creationId xmlns:a16="http://schemas.microsoft.com/office/drawing/2014/main" id="{7BCD881F-C4C8-3451-414C-C3A1DF76C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5069760" y="1182092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0C191D-3C6D-EB35-2B5E-8C792495D902}"/>
              </a:ext>
            </a:extLst>
          </p:cNvPr>
          <p:cNvSpPr txBox="1"/>
          <p:nvPr/>
        </p:nvSpPr>
        <p:spPr>
          <a:xfrm>
            <a:off x="6084618" y="1402179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Validate File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2D2C40-2FF4-E0D6-FA06-3DC941AFD066}"/>
              </a:ext>
            </a:extLst>
          </p:cNvPr>
          <p:cNvSpPr/>
          <p:nvPr/>
        </p:nvSpPr>
        <p:spPr>
          <a:xfrm>
            <a:off x="6099254" y="1408458"/>
            <a:ext cx="19418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Graphic 22" descr="Line arrow Straight">
            <a:extLst>
              <a:ext uri="{FF2B5EF4-FFF2-40B4-BE49-F238E27FC236}">
                <a16:creationId xmlns:a16="http://schemas.microsoft.com/office/drawing/2014/main" id="{25E81878-325F-827C-F909-3633ABBF74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8156243" y="1182092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785732E-FE45-8CC7-EBC8-76EE51EA6D0B}"/>
              </a:ext>
            </a:extLst>
          </p:cNvPr>
          <p:cNvSpPr txBox="1"/>
          <p:nvPr/>
        </p:nvSpPr>
        <p:spPr>
          <a:xfrm>
            <a:off x="9131832" y="1414269"/>
            <a:ext cx="2401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Clean Dataset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A1926F-E8FB-8026-B41D-C698A9E96F40}"/>
              </a:ext>
            </a:extLst>
          </p:cNvPr>
          <p:cNvSpPr/>
          <p:nvPr/>
        </p:nvSpPr>
        <p:spPr>
          <a:xfrm>
            <a:off x="9171315" y="1425891"/>
            <a:ext cx="23225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Graphic 28" descr="Line arrow Straight">
            <a:extLst>
              <a:ext uri="{FF2B5EF4-FFF2-40B4-BE49-F238E27FC236}">
                <a16:creationId xmlns:a16="http://schemas.microsoft.com/office/drawing/2014/main" id="{0AFE5E21-8F34-4A04-2F11-B5FE2D837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9875368" y="1977520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AD9D2B-1C9F-C6F6-030E-6EBEA42F3D5E}"/>
              </a:ext>
            </a:extLst>
          </p:cNvPr>
          <p:cNvSpPr txBox="1"/>
          <p:nvPr/>
        </p:nvSpPr>
        <p:spPr>
          <a:xfrm>
            <a:off x="9230111" y="2967335"/>
            <a:ext cx="2204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Data Profiling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B94B6C-36C8-C9EF-4F5F-C130B7428B48}"/>
              </a:ext>
            </a:extLst>
          </p:cNvPr>
          <p:cNvSpPr/>
          <p:nvPr/>
        </p:nvSpPr>
        <p:spPr>
          <a:xfrm>
            <a:off x="9171313" y="2993507"/>
            <a:ext cx="23225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Graphic 34" descr="Line arrow Straight">
            <a:extLst>
              <a:ext uri="{FF2B5EF4-FFF2-40B4-BE49-F238E27FC236}">
                <a16:creationId xmlns:a16="http://schemas.microsoft.com/office/drawing/2014/main" id="{4AB037F6-6469-A739-C3B0-F6BDC3085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56243" y="2740967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558ED2B-433D-5E89-A5B5-DC38A44B515F}"/>
              </a:ext>
            </a:extLst>
          </p:cNvPr>
          <p:cNvSpPr txBox="1"/>
          <p:nvPr/>
        </p:nvSpPr>
        <p:spPr>
          <a:xfrm>
            <a:off x="7167700" y="2967335"/>
            <a:ext cx="988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EDA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8E079BC-393D-5342-64F0-FD0491917079}"/>
              </a:ext>
            </a:extLst>
          </p:cNvPr>
          <p:cNvSpPr/>
          <p:nvPr/>
        </p:nvSpPr>
        <p:spPr>
          <a:xfrm>
            <a:off x="7122438" y="2993507"/>
            <a:ext cx="87433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Graphic 40" descr="Line arrow Straight">
            <a:extLst>
              <a:ext uri="{FF2B5EF4-FFF2-40B4-BE49-F238E27FC236}">
                <a16:creationId xmlns:a16="http://schemas.microsoft.com/office/drawing/2014/main" id="{34B5C6DC-9356-87FD-F075-52499D17E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7703" y="2767139"/>
            <a:ext cx="914400" cy="9144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479F7F0-22C0-F9C7-67FF-110CDA67B489}"/>
              </a:ext>
            </a:extLst>
          </p:cNvPr>
          <p:cNvSpPr txBox="1"/>
          <p:nvPr/>
        </p:nvSpPr>
        <p:spPr>
          <a:xfrm>
            <a:off x="3902275" y="2967334"/>
            <a:ext cx="2305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Visualizations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E3DEAC-6BD3-A9CE-1FA0-20204ECA0E26}"/>
              </a:ext>
            </a:extLst>
          </p:cNvPr>
          <p:cNvSpPr/>
          <p:nvPr/>
        </p:nvSpPr>
        <p:spPr>
          <a:xfrm>
            <a:off x="3892250" y="2993507"/>
            <a:ext cx="210030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7" name="Graphic 46" descr="Line arrow Straight">
            <a:extLst>
              <a:ext uri="{FF2B5EF4-FFF2-40B4-BE49-F238E27FC236}">
                <a16:creationId xmlns:a16="http://schemas.microsoft.com/office/drawing/2014/main" id="{A1586681-6EEC-966A-94DC-A3017E22E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8135" y="2776317"/>
            <a:ext cx="914400" cy="9144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846F66E-3D47-0424-465A-B221DDBC7A9B}"/>
              </a:ext>
            </a:extLst>
          </p:cNvPr>
          <p:cNvSpPr txBox="1"/>
          <p:nvPr/>
        </p:nvSpPr>
        <p:spPr>
          <a:xfrm>
            <a:off x="1144806" y="2962871"/>
            <a:ext cx="1790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AI Insights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B4EC057-7D10-85FC-DEAF-0B2CF53301D4}"/>
              </a:ext>
            </a:extLst>
          </p:cNvPr>
          <p:cNvSpPr/>
          <p:nvPr/>
        </p:nvSpPr>
        <p:spPr>
          <a:xfrm>
            <a:off x="1095146" y="2967334"/>
            <a:ext cx="16641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3" name="Graphic 52" descr="Line arrow Straight">
            <a:extLst>
              <a:ext uri="{FF2B5EF4-FFF2-40B4-BE49-F238E27FC236}">
                <a16:creationId xmlns:a16="http://schemas.microsoft.com/office/drawing/2014/main" id="{7DA2D6EA-A9D7-501F-B1C5-ADE3C821A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372188" y="3590478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E949BDC-9F22-721D-E9F0-F1F75FDFBE17}"/>
              </a:ext>
            </a:extLst>
          </p:cNvPr>
          <p:cNvSpPr txBox="1"/>
          <p:nvPr/>
        </p:nvSpPr>
        <p:spPr>
          <a:xfrm>
            <a:off x="528517" y="4675284"/>
            <a:ext cx="3130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Machine Learning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D50989-9613-8730-7467-ABA4602435E7}"/>
              </a:ext>
            </a:extLst>
          </p:cNvPr>
          <p:cNvSpPr/>
          <p:nvPr/>
        </p:nvSpPr>
        <p:spPr>
          <a:xfrm>
            <a:off x="528517" y="4679747"/>
            <a:ext cx="283685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9" name="Graphic 58" descr="Line arrow Straight">
            <a:extLst>
              <a:ext uri="{FF2B5EF4-FFF2-40B4-BE49-F238E27FC236}">
                <a16:creationId xmlns:a16="http://schemas.microsoft.com/office/drawing/2014/main" id="{22D04ABD-F64A-C4CB-1F94-9FAC84892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544189" y="4448916"/>
            <a:ext cx="914400" cy="9144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28F37DA-2421-838C-798C-5D52C2A7D3A1}"/>
              </a:ext>
            </a:extLst>
          </p:cNvPr>
          <p:cNvSpPr txBox="1"/>
          <p:nvPr/>
        </p:nvSpPr>
        <p:spPr>
          <a:xfrm>
            <a:off x="4614757" y="4679746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Generate Reports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32BBEAF-2766-2A92-0627-826D5C5F4CE0}"/>
              </a:ext>
            </a:extLst>
          </p:cNvPr>
          <p:cNvSpPr/>
          <p:nvPr/>
        </p:nvSpPr>
        <p:spPr>
          <a:xfrm>
            <a:off x="4616668" y="4686026"/>
            <a:ext cx="285759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5" name="Graphic 64" descr="Line arrow Straight">
            <a:extLst>
              <a:ext uri="{FF2B5EF4-FFF2-40B4-BE49-F238E27FC236}">
                <a16:creationId xmlns:a16="http://schemas.microsoft.com/office/drawing/2014/main" id="{68E56524-996A-42C9-3BEA-5DB4D35C7C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630428" y="4459658"/>
            <a:ext cx="914400" cy="9144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2A7560E6-486D-2752-36B9-10192B5A2A43}"/>
              </a:ext>
            </a:extLst>
          </p:cNvPr>
          <p:cNvSpPr txBox="1"/>
          <p:nvPr/>
        </p:nvSpPr>
        <p:spPr>
          <a:xfrm>
            <a:off x="8700996" y="4667656"/>
            <a:ext cx="3342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Download PDF/Excel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A6AE0E6-907C-B13C-6610-1B7767CF5E49}"/>
              </a:ext>
            </a:extLst>
          </p:cNvPr>
          <p:cNvSpPr/>
          <p:nvPr/>
        </p:nvSpPr>
        <p:spPr>
          <a:xfrm>
            <a:off x="8700996" y="4653574"/>
            <a:ext cx="325219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1" name="Graphic 70" descr="Line arrow Straight">
            <a:extLst>
              <a:ext uri="{FF2B5EF4-FFF2-40B4-BE49-F238E27FC236}">
                <a16:creationId xmlns:a16="http://schemas.microsoft.com/office/drawing/2014/main" id="{AE641747-8794-6458-7706-5748E69708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9930639" y="5242997"/>
            <a:ext cx="914400" cy="9144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BFDCFE2B-630D-6AD8-79BE-0BA83CA64892}"/>
              </a:ext>
            </a:extLst>
          </p:cNvPr>
          <p:cNvSpPr txBox="1"/>
          <p:nvPr/>
        </p:nvSpPr>
        <p:spPr>
          <a:xfrm>
            <a:off x="10002318" y="6232812"/>
            <a:ext cx="942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End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D3BFCE-2557-4964-BBC4-A7C508CAFE25}"/>
              </a:ext>
            </a:extLst>
          </p:cNvPr>
          <p:cNvSpPr/>
          <p:nvPr/>
        </p:nvSpPr>
        <p:spPr>
          <a:xfrm>
            <a:off x="9955045" y="6258984"/>
            <a:ext cx="87433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08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79F853-E17D-8870-E326-8B073BCF251D}"/>
              </a:ext>
            </a:extLst>
          </p:cNvPr>
          <p:cNvSpPr txBox="1"/>
          <p:nvPr/>
        </p:nvSpPr>
        <p:spPr>
          <a:xfrm>
            <a:off x="398283" y="456357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User Interface Design: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F9C5E-5107-5C08-2D6F-4F6C3826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1" y="1369587"/>
            <a:ext cx="11617318" cy="4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99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7228A7-77E7-783E-F651-FA7D478B0665}"/>
              </a:ext>
            </a:extLst>
          </p:cNvPr>
          <p:cNvSpPr txBox="1"/>
          <p:nvPr/>
        </p:nvSpPr>
        <p:spPr>
          <a:xfrm>
            <a:off x="643380" y="335846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Current Progress: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C0206-1D59-BAFE-895B-F2F45800104F}"/>
              </a:ext>
            </a:extLst>
          </p:cNvPr>
          <p:cNvSpPr txBox="1"/>
          <p:nvPr/>
        </p:nvSpPr>
        <p:spPr>
          <a:xfrm>
            <a:off x="643380" y="920621"/>
            <a:ext cx="609442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Requirement Analysis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Technology Selection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Environment Setup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GitHub Repository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Project Structure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Frontend Framework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Theme Design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dirty="0"/>
              <a:t>✅ Navigation System</a:t>
            </a:r>
          </a:p>
        </p:txBody>
      </p:sp>
    </p:spTree>
    <p:extLst>
      <p:ext uri="{BB962C8B-B14F-4D97-AF65-F5344CB8AC3E}">
        <p14:creationId xmlns:p14="http://schemas.microsoft.com/office/powerpoint/2010/main" val="2521236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42AC15-E08B-C3E5-0B37-87A356D80988}"/>
              </a:ext>
            </a:extLst>
          </p:cNvPr>
          <p:cNvSpPr txBox="1"/>
          <p:nvPr/>
        </p:nvSpPr>
        <p:spPr>
          <a:xfrm>
            <a:off x="869622" y="367645"/>
            <a:ext cx="7642781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Features:</a:t>
            </a:r>
          </a:p>
          <a:p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CSV Upload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Excel Upload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Missing Value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Duplicate Removal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Data Type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Correlation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Trend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Outlier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Feature Engineering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Machine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Automatic Reports 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76283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B42037-C023-F37F-8206-344B5714C2E0}"/>
              </a:ext>
            </a:extLst>
          </p:cNvPr>
          <p:cNvSpPr txBox="1"/>
          <p:nvPr/>
        </p:nvSpPr>
        <p:spPr>
          <a:xfrm>
            <a:off x="784783" y="251972"/>
            <a:ext cx="60944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Advantages:</a:t>
            </a:r>
          </a:p>
          <a:p>
            <a:endParaRPr lang="en-IN" sz="1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No Coding Required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User Friendly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Fast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Automated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AI-based Recommendations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Professional Reports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Time Saving</a:t>
            </a:r>
          </a:p>
          <a:p>
            <a:pPr lvl="0"/>
            <a:endParaRPr lang="en-IN" sz="2000" b="1" dirty="0"/>
          </a:p>
          <a:p>
            <a:pPr lvl="0"/>
            <a:endParaRPr lang="en-IN" sz="2000" b="1" dirty="0"/>
          </a:p>
          <a:p>
            <a:r>
              <a:rPr lang="en-IN" sz="2400" b="1" dirty="0"/>
              <a:t>Expected Outcome:</a:t>
            </a:r>
          </a:p>
          <a:p>
            <a:endParaRPr lang="en-IN" sz="1000" b="1" dirty="0"/>
          </a:p>
          <a:p>
            <a:r>
              <a:rPr lang="en-IN" sz="2000" dirty="0"/>
              <a:t>After completion, users will be able to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Upload any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Automatically clean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Analyze</a:t>
            </a:r>
            <a:r>
              <a:rPr lang="en-IN" sz="2000" dirty="0"/>
              <a:t>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AI insights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Build ML models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Export reports </a:t>
            </a:r>
          </a:p>
          <a:p>
            <a:r>
              <a:rPr lang="en-IN" sz="2000" dirty="0"/>
              <a:t>All without writing code.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780792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D7B7-D4CA-98BF-C2A4-B6D22CCA5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486265"/>
            <a:ext cx="8825658" cy="3329581"/>
          </a:xfrm>
        </p:spPr>
        <p:txBody>
          <a:bodyPr/>
          <a:lstStyle/>
          <a:p>
            <a:pPr algn="ctr"/>
            <a:r>
              <a:rPr lang="en-IN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88743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384</TotalTime>
  <Words>333</Words>
  <Application>Microsoft Office PowerPoint</Application>
  <PresentationFormat>Widescreen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AI-Powered Data Analyst Assistant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lahane</dc:creator>
  <cp:lastModifiedBy>shubham lahane</cp:lastModifiedBy>
  <cp:revision>4</cp:revision>
  <dcterms:created xsi:type="dcterms:W3CDTF">2026-08-07T14:54:41Z</dcterms:created>
  <dcterms:modified xsi:type="dcterms:W3CDTF">2026-08-08T19:50:53Z</dcterms:modified>
</cp:coreProperties>
</file>